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"/>
      <p:regular r:id="rId16"/>
      <p:bold r:id="rId17"/>
      <p:italic r:id="rId18"/>
      <p:boldItalic r:id="rId19"/>
    </p:embeddedFont>
    <p:embeddedFont>
      <p:font typeface="JetBrains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regular.fntdata"/><Relationship Id="rId11" Type="http://schemas.openxmlformats.org/officeDocument/2006/relationships/slide" Target="slides/slide6.xml"/><Relationship Id="rId22" Type="http://schemas.openxmlformats.org/officeDocument/2006/relationships/font" Target="fonts/JetBrainsMono-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JetBrains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30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7275" y="4310955"/>
            <a:ext cx="105537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57275" y="1461194"/>
            <a:ext cx="11081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DEEP Q-LEARNING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7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FOR SNAKE AI</a:t>
            </a:r>
            <a:endParaRPr>
              <a:solidFill>
                <a:srgbClr val="39FF14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57275" y="3366194"/>
            <a:ext cx="105537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Navigating Risk &amp; Reward in a 'Poisoned' Environment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57275" y="4606230"/>
            <a:ext cx="110813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TEAM GUJJU AI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57275" y="5006280"/>
            <a:ext cx="10553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1D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Aryan Hemendra Bhavsar • Zeel Ghanshyambhai Prajapati • Manthan Dharmeshkumar Patel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14525"/>
            <a:ext cx="5276850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14525"/>
            <a:ext cx="5276850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71550" y="3419475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85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STANDARD SNAKE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71550" y="4076700"/>
            <a:ext cx="44958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Traditional snake bots are a "solved" problem. They only need to avoid walls and their own tail. The goal is simple pathfinding with zero trade-offs.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419475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026FF"/>
                </a:solidFill>
                <a:latin typeface="Urbanist"/>
                <a:ea typeface="Urbanist"/>
                <a:cs typeface="Urbanist"/>
                <a:sym typeface="Urbanist"/>
              </a:rPr>
              <a:t>OUR POISON TWIST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4076700"/>
            <a:ext cx="44958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We introduced </a:t>
            </a:r>
            <a:r>
              <a:rPr b="1" i="0" lang="en-US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Poison Blocks</a:t>
            </a: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(-50 penalty). The agent is no longer just pathfinding; it must balance </a:t>
            </a:r>
            <a:r>
              <a:rPr b="1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Greed</a:t>
            </a: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(Food), </a:t>
            </a:r>
            <a:r>
              <a:rPr b="1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Safety</a:t>
            </a: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(Poison), and </a:t>
            </a:r>
            <a:r>
              <a:rPr b="1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Survival</a:t>
            </a: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(Walls).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438525"/>
            <a:ext cx="3905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3438525"/>
            <a:ext cx="2762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71525" y="581025"/>
            <a:ext cx="1138142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81025" y="581025"/>
            <a:ext cx="57150" cy="4762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76537"/>
            <a:ext cx="34861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776537"/>
            <a:ext cx="34861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776537"/>
            <a:ext cx="34861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03910" y="38147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STATE SPACE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4243387"/>
            <a:ext cx="28956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Engineered a custom </a:t>
            </a:r>
            <a:r>
              <a:rPr b="1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16-dimensional boolean vector</a:t>
            </a: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to give the agent distinct "vision" of food, poison, and obstacles.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575810" y="38147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DQN MODEL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8200" y="4243387"/>
            <a:ext cx="2895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Implemented a </a:t>
            </a:r>
            <a:r>
              <a:rPr b="1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PyTorch Deep Neural Network</a:t>
            </a: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to approximate Q-values and predict long-term rewards from current states.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347710" y="38147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REWARD SHAPING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20100" y="4243387"/>
            <a:ext cx="2895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Designed a strictly balanced </a:t>
            </a:r>
            <a:r>
              <a:rPr b="1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reward/penalty structure</a:t>
            </a: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to force discrimination between "good" and "bad" pixels.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30908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962" y="3090862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9775" y="30908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71525" y="581025"/>
            <a:ext cx="1138142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81025" y="581025"/>
            <a:ext cx="57150" cy="4762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2605087" y="2505372"/>
            <a:ext cx="69818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Instead of processing raw pixels (which is slow), we simplified the input into a high-level boolean vector: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081337" y="2972097"/>
            <a:ext cx="65055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Danger (3 bits):</a:t>
            </a: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Is a collision imminent Straight, Left, or Right?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3081337" y="3545383"/>
            <a:ext cx="65055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Direction (4 bits):</a:t>
            </a: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Current Heading (North, South, East, West)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3081337" y="4118669"/>
            <a:ext cx="65055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Food Direction (4 bits):</a:t>
            </a: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Is food Up, Down, Left, or Right relative to head?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3081337" y="4691955"/>
            <a:ext cx="650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026FF"/>
                </a:solidFill>
                <a:latin typeface="Urbanist"/>
                <a:ea typeface="Urbanist"/>
                <a:cs typeface="Urbanist"/>
                <a:sym typeface="Urbanist"/>
              </a:rPr>
              <a:t>Poison Direction (4 bits):</a:t>
            </a:r>
            <a:r>
              <a:rPr b="0" i="0" lang="en-US" sz="1650" u="none" cap="none" strike="noStrike">
                <a:solidFill>
                  <a:srgbClr val="B026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Is poison Up, Down, Left, or Right?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3081337" y="5265241"/>
            <a:ext cx="65055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Tail Proximity (1 bit):</a:t>
            </a: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Is the tail dangerously close?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5087" y="301019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5087" y="358348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05087" y="415676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05087" y="47300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05087" y="5303341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71525" y="581025"/>
            <a:ext cx="1138142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THE 16-FEATURE STATE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81025" y="581025"/>
            <a:ext cx="57150" cy="4762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1982" y="1314301"/>
            <a:ext cx="7658992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3975" y="1323826"/>
            <a:ext cx="5295007" cy="379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1057275" y="1466701"/>
            <a:ext cx="2418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Input Layer</a:t>
            </a:r>
            <a:br>
              <a:rPr b="0" i="0" lang="en-US" sz="1800" u="none" cap="none" strike="noStrike">
                <a:solidFill>
                  <a:srgbClr val="39FF1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16 Nodes </a:t>
            </a: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(Feature Vector)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57275" y="2788443"/>
            <a:ext cx="2418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Hidden Layers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512 -&gt; 256 Neurons (ReLU)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Deep enough to capture non-linear risks.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57275" y="4780508"/>
            <a:ext cx="2418600" cy="17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Output Layer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3 Nodes</a:t>
            </a: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[Left, Straight, Right]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Determines the next move.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71525" y="-19198"/>
            <a:ext cx="1138142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NEURAL ARCHITECTURE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81025" y="-19198"/>
            <a:ext cx="57150" cy="4762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14612"/>
            <a:ext cx="34861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14612"/>
            <a:ext cx="34861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14612"/>
            <a:ext cx="348615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03910" y="36528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EAT FOOD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76300" y="4233862"/>
            <a:ext cx="2895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+10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76300" y="4948237"/>
            <a:ext cx="2895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The Incentive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4575810" y="36528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026FF"/>
                </a:solidFill>
                <a:latin typeface="Urbanist"/>
                <a:ea typeface="Urbanist"/>
                <a:cs typeface="Urbanist"/>
                <a:sym typeface="Urbanist"/>
              </a:rPr>
              <a:t>EAT POISON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648200" y="4233862"/>
            <a:ext cx="2895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-50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648200" y="4948237"/>
            <a:ext cx="2895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The Deterrent (5x Food)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347710" y="36528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73A"/>
                </a:solidFill>
                <a:latin typeface="Urbanist"/>
                <a:ea typeface="Urbanist"/>
                <a:cs typeface="Urbanist"/>
                <a:sym typeface="Urbanist"/>
              </a:rPr>
              <a:t>DEATH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420100" y="4233862"/>
            <a:ext cx="2895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-100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420100" y="4948237"/>
            <a:ext cx="2895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Critical Failure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92893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9289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7862" y="292893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771525" y="581025"/>
            <a:ext cx="1138142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REWARD SHAPING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81025" y="581025"/>
            <a:ext cx="57150" cy="4762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14525"/>
            <a:ext cx="5276850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14525"/>
            <a:ext cx="5276850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971550" y="28717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PHASE 1: BASELINE AGENT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71550" y="3529012"/>
            <a:ext cx="4495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Heuristic / Rule-Based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971550" y="4005262"/>
            <a:ext cx="449580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971550" y="4310062"/>
            <a:ext cx="4495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FAILS. It has no concept of hazard types. It treats poison blocks as empty space and dies frequently.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71550" y="4967287"/>
            <a:ext cx="4495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07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BLIND TO POISON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24650" y="28717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PHASE 3: TRAINED DQN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724650" y="3529012"/>
            <a:ext cx="4495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Deep Q-Network (200 Episodes)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6724650" y="4005262"/>
            <a:ext cx="4495800" cy="9525"/>
          </a:xfrm>
          <a:prstGeom prst="rect">
            <a:avLst/>
          </a:prstGeom>
          <a:solidFill>
            <a:srgbClr val="004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724650" y="4310062"/>
            <a:ext cx="44958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SUCCESS. The agent learned that the 'Poison Input' bit correlates with massive penalties. It actively pathfinds </a:t>
            </a:r>
            <a:r>
              <a:rPr b="0" i="1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around</a:t>
            </a: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hazards.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724650" y="4967287"/>
            <a:ext cx="4495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9FF1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POISON AWARENESS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71525" y="581025"/>
            <a:ext cx="1138142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BASELINE VS. TRAINED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81025" y="581025"/>
            <a:ext cx="57150" cy="4762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3751825" y="2316460"/>
            <a:ext cx="542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PERFORMANCE OVER 500 EPISODES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3751825" y="2887960"/>
            <a:ext cx="516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The graph illustrates the agent's journey from randomness to mastery.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416425" y="3492162"/>
            <a:ext cx="3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609075" y="3411835"/>
            <a:ext cx="4305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Exploration Phase:</a:t>
            </a: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Initial low scores as the agent explores the grid randomly.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389967" y="4400609"/>
            <a:ext cx="3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609075" y="4320282"/>
            <a:ext cx="4305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Exploitation Phase:</a:t>
            </a:r>
            <a:r>
              <a:rPr b="0" i="0" lang="en-US" sz="165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 Rapid increase in scores as the agent utilizes the learned Q-table to maximize rewards.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71525" y="581025"/>
            <a:ext cx="1138142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0F0F0"/>
                </a:solidFill>
                <a:latin typeface="Urbanist"/>
                <a:ea typeface="Urbanist"/>
                <a:cs typeface="Urbanist"/>
                <a:sym typeface="Urbanist"/>
              </a:rPr>
              <a:t>TRAINING CONVERGENCE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81025" y="581025"/>
            <a:ext cx="57150" cy="4762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2625" y="1000273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2190750" y="2600473"/>
            <a:ext cx="7810500" cy="3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"We transformed a simple arcade game into a complex decision-making task. The agent learned not just to pathfind, but to weigh</a:t>
            </a:r>
            <a:r>
              <a:rPr b="1" i="0" lang="en-US" sz="3600" u="none" cap="none" strike="noStrike">
                <a:solidFill>
                  <a:srgbClr val="FF07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Risks</a:t>
            </a:r>
            <a:r>
              <a:rPr b="1" i="0" lang="en-US" sz="3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against </a:t>
            </a:r>
            <a:r>
              <a:rPr b="1" i="0" lang="en-US" sz="3600" u="none" cap="none" strike="noStrike">
                <a:solidFill>
                  <a:srgbClr val="39FF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Rewards</a:t>
            </a:r>
            <a:r>
              <a:rPr b="1" i="0" lang="en-US" sz="3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real-time."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1809750" y="2409973"/>
            <a:ext cx="423118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9FF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305276" y="2266950"/>
            <a:ext cx="1158144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9FF14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81025" y="3829050"/>
            <a:ext cx="11029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1D1"/>
                </a:solidFill>
                <a:latin typeface="Urbanist"/>
                <a:ea typeface="Urbanist"/>
                <a:cs typeface="Urbanist"/>
                <a:sym typeface="Urbanist"/>
              </a:rPr>
              <a:t>Thank you for watching.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81025" y="4391025"/>
            <a:ext cx="11029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0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github.com/Aryxnh4x/Deep_Q_Learning_for_Snake_AI</a:t>
            </a:r>
            <a:endParaRPr/>
          </a:p>
        </p:txBody>
      </p:sp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441007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